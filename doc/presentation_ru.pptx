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62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E0D74F4-D6C7-4F83-9FA3-7D42DBC85EF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26833005-DA95-4BC4-8D4D-EEF4DC573E0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5CB30F7-D944-4648-BB84-5A5D7E52D8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4A565A1-7F35-4B6E-903E-E2CBD4DC9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5BAB19-A576-45A8-B9D5-D738A6A665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419783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2F709B3-7678-4A96-9108-ED5B993C13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E82937E9-5A03-453C-8F4A-85FD18B258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1066FDA-2111-44B8-8D7F-A80F83DC91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6B0541F-B7E7-49EB-A996-E2CF7F7094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D2D054E-1959-413C-AA97-CE68513624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8715985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C2C8C99-5B7E-444D-9FCF-3CC4DA2BED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846872C6-00B7-439D-A9A7-E4A491955D7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BFCC95-9EDE-4A27-9AC4-1C37910D6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7CE5C088-9E99-44C9-8968-0F59E7A586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8D8CD7C-76BB-4CE0-941E-5F88E5242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176988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216DCB-A5E6-4B7B-99EE-40B639B2A9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1B98F38-7A11-4D15-B81D-8D510D449D8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73091E22-E8AB-45C6-BE49-30125AB39E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01FDBE6-3BD0-4686-8CF3-A3007F0453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287933B-B4ED-474D-B698-829545C8C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110BBB41-A461-4858-BC7E-6D4A98E368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420834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EDF31EC-8EA2-4F7E-A6E2-A4393E2EEC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28592829-00CF-49CB-AE7C-878C7C0E1B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DCAE6670-8B0C-4F6D-A84C-24FE4ED1506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CCFEFB80-0FEC-4C38-B33C-D228F8ACD4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020375B-1BBC-4101-BE22-B594D95D6E9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E2CC1D8A-02BE-4F02-8B36-232D123B4E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2F97297C-95BB-4146-A64E-7F1D047A1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4C06403B-CA33-4D7C-AE31-E86B0F3A10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382251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0950DA8-773A-460E-92C0-2E8F7619E2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A797FDBB-1D05-488B-9334-3926432E5B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1AAE75F3-5A72-461E-892F-C5F1D9AF8B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EE8DA450-EB1C-436F-AA5C-72BF3F2FB6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2176816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F3B7E4EB-EC69-410F-8887-D8598942E3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AC790F4E-56DB-4119-BFC5-DE2B79E01F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83ED0E69-854C-405D-A3F0-3FBEF22C8F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57113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C7E3151-E7D4-4765-96C6-E73B3A89F3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CCD917F-EF60-4C4D-9DE5-3F6B50393B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3AB486B9-0060-409D-89A9-ED312776E0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37BED10-1B04-43B7-BF93-EC7F662BEB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ED151252-F753-448F-BC22-DA9DF0B7E3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41E8926-1512-456C-BBCF-E73E7698C5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190831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5D045D7-9352-4860-B4FF-00F40A31D2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6E885147-658B-4FBB-8C05-4AC815D02B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75353DB-776E-4173-90D7-93C0560085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3839EF24-1DC5-4F67-8675-2AFFD6725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36000757-88B9-4F49-856B-F5BCFBA43E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3304540-ABB9-47DA-AA36-CD6AEC1F7C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8989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37D8EEA-DF2E-4EA2-A42F-C0AAABF764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62A5C63-5426-4324-B30A-8B6F0025CA7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58F5C4A-7AAA-4232-8CFF-20DD3C140B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055915CF-6E42-40E9-8088-E0B7D41E48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0853D6B3-B9FA-42AD-9003-EFC4F6EFD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99312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DBD57DFD-4B0D-4A8B-BAC8-98D82EDE994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5B9EB2E5-74D8-409C-A3E0-45C4FBCC3C7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2D52A49-94CA-451A-8936-4FACC22AA4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8B8696E-2123-4B0F-AC51-12FF3D4457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90DBED57-3E90-41EB-9916-4F86C3B93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77731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4F0A13E-9861-495A-82BD-0C375EDF60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F236296-4840-43F5-97CB-B17916BCD24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16CFCE5-EBCC-4697-BA8B-F0CA8BC755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5B4ADA0-5919-4E9A-86CC-FDD0BCB70E6E}" type="datetimeFigureOut">
              <a:rPr lang="ru-RU" smtClean="0"/>
              <a:t>27.04.2026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A3B49326-8612-46A5-B33C-4AEC77C2D11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A78093-CFA5-435B-902B-E8D22E7E0A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215928A-73CB-4E6F-956B-9F6EE2835AE3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220764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ikNazarov/TorchPIV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avlovEgor/testPIV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33AA9-DCD5-41E0-8BB8-A7ED6448FB8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57600" y="1122363"/>
            <a:ext cx="7010400" cy="2387600"/>
          </a:xfrm>
        </p:spPr>
        <p:txBody>
          <a:bodyPr>
            <a:normAutofit/>
          </a:bodyPr>
          <a:lstStyle/>
          <a:p>
            <a:pPr algn="r"/>
            <a:r>
              <a:rPr lang="ru-RU" sz="4000" dirty="0">
                <a:latin typeface="Bahnschrift SemiBold Condensed" panose="020B0502040204020203" pitchFamily="34" charset="0"/>
              </a:rPr>
              <a:t>Изучение алгоритмов обработки изображений частиц для расчета мгновенного поля скорости.</a:t>
            </a:r>
            <a:br>
              <a:rPr lang="ru-RU" sz="4000" dirty="0">
                <a:latin typeface="Bahnschrift SemiBold Condensed" panose="020B0502040204020203" pitchFamily="34" charset="0"/>
              </a:rPr>
            </a:br>
            <a:r>
              <a:rPr lang="en-US" sz="4000" dirty="0">
                <a:latin typeface="Bahnschrift SemiBold Condensed" panose="020B0502040204020203" pitchFamily="34" charset="0"/>
              </a:rPr>
              <a:t>Particle Image Velocimetry (PIV)</a:t>
            </a:r>
            <a:endParaRPr lang="ru-RU" sz="4000" dirty="0">
              <a:latin typeface="Bahnschrift SemiBold Condensed" panose="020B0502040204020203" pitchFamily="34" charset="0"/>
            </a:endParaRP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3EF5E018-2AC4-4C30-A7A4-10648E0D13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r"/>
            <a:r>
              <a:rPr lang="ru-RU" dirty="0">
                <a:latin typeface="Bahnschrift SemiBold Condensed" panose="020B0502040204020203" pitchFamily="34" charset="0"/>
              </a:rPr>
              <a:t>Павлов Егор Павлович</a:t>
            </a:r>
          </a:p>
        </p:txBody>
      </p:sp>
      <p:pic>
        <p:nvPicPr>
          <p:cNvPr id="1028" name="Picture 4" descr="Picture background">
            <a:extLst>
              <a:ext uri="{FF2B5EF4-FFF2-40B4-BE49-F238E27FC236}">
                <a16:creationId xmlns:a16="http://schemas.microsoft.com/office/drawing/2014/main" id="{F24065A4-4703-4BF5-95EE-0B522A7305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6131" y="2856829"/>
            <a:ext cx="4864100" cy="36480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67612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BEC95BE4-8267-40A7-A7DF-20B607E520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О чем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FC59326-9C7F-45D1-BAD3-038FB365B2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63416" y="1690688"/>
            <a:ext cx="7160846" cy="4351338"/>
          </a:xfrm>
        </p:spPr>
        <p:txBody>
          <a:bodyPr>
            <a:normAutofit fontScale="92500"/>
          </a:bodyPr>
          <a:lstStyle/>
          <a:p>
            <a:r>
              <a:rPr lang="ru-RU" dirty="0">
                <a:latin typeface="Bahnschrift SemiBold Condensed" panose="020B0502040204020203" pitchFamily="34" charset="0"/>
              </a:rPr>
              <a:t>Хочется: получать мгновенное поле скорости в изучаемой области течения жидкости</a:t>
            </a:r>
            <a:r>
              <a:rPr lang="en-US" dirty="0">
                <a:latin typeface="Bahnschrift SemiBold Condensed" panose="020B0502040204020203" pitchFamily="34" charset="0"/>
              </a:rPr>
              <a:t>, </a:t>
            </a:r>
            <a:r>
              <a:rPr lang="ru-RU" dirty="0">
                <a:latin typeface="Bahnschrift SemiBold Condensed" panose="020B0502040204020203" pitchFamily="34" charset="0"/>
              </a:rPr>
              <a:t>чтобы например сравнивать с теоретическими или численными результатами</a:t>
            </a:r>
          </a:p>
          <a:p>
            <a:r>
              <a:rPr lang="ru-RU" dirty="0">
                <a:latin typeface="Bahnschrift SemiBold Condensed" panose="020B0502040204020203" pitchFamily="34" charset="0"/>
              </a:rPr>
              <a:t>Проблема1: жидкость прозрачная, просто так ничего не увидеть</a:t>
            </a:r>
          </a:p>
          <a:p>
            <a:r>
              <a:rPr lang="ru-RU" dirty="0">
                <a:latin typeface="Bahnschrift SemiBold Condensed" panose="020B0502040204020203" pitchFamily="34" charset="0"/>
              </a:rPr>
              <a:t>Решение: добавить в жидкость частиц и подсветить их лазером, чтобы лучше отображались на фотографиях</a:t>
            </a:r>
          </a:p>
          <a:p>
            <a:r>
              <a:rPr lang="ru-RU" dirty="0">
                <a:latin typeface="Bahnschrift SemiBold Condensed" panose="020B0502040204020203" pitchFamily="34" charset="0"/>
              </a:rPr>
              <a:t>Проблема2: даже обладая фотографиями распределений частиц в близкие моменты времени восстановить мгновенное поле скорости нетривиальная задача</a:t>
            </a:r>
          </a:p>
          <a:p>
            <a:endParaRPr lang="ru-RU" dirty="0"/>
          </a:p>
          <a:p>
            <a:endParaRPr lang="ru-RU" dirty="0"/>
          </a:p>
        </p:txBody>
      </p:sp>
      <p:pic>
        <p:nvPicPr>
          <p:cNvPr id="2054" name="Picture 6" descr="Picture background">
            <a:extLst>
              <a:ext uri="{FF2B5EF4-FFF2-40B4-BE49-F238E27FC236}">
                <a16:creationId xmlns:a16="http://schemas.microsoft.com/office/drawing/2014/main" id="{819E34A5-AC57-440F-B777-C129DBE1857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8963" y="112041"/>
            <a:ext cx="3829539" cy="21541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Picture background">
            <a:extLst>
              <a:ext uri="{FF2B5EF4-FFF2-40B4-BE49-F238E27FC236}">
                <a16:creationId xmlns:a16="http://schemas.microsoft.com/office/drawing/2014/main" id="{5D0ABC49-FBB5-424E-AEF3-B0738E3057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24302" y="2935441"/>
            <a:ext cx="4640304" cy="34396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724577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8DFC080-84C0-4756-A8ED-EDF7CA44DF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О чем метод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CB2B292-D4E0-45DC-A6C6-B5DD1DE29B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9475177" cy="4351338"/>
          </a:xfrm>
        </p:spPr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Именно для решения второй проблемы и создан </a:t>
            </a:r>
            <a:r>
              <a:rPr lang="en-US" dirty="0">
                <a:latin typeface="Bahnschrift SemiBold Condensed" panose="020B0502040204020203" pitchFamily="34" charset="0"/>
              </a:rPr>
              <a:t>PIV</a:t>
            </a:r>
            <a:r>
              <a:rPr lang="ru-RU" dirty="0">
                <a:latin typeface="Bahnschrift SemiBold Condensed" panose="020B0502040204020203" pitchFamily="34" charset="0"/>
              </a:rPr>
              <a:t>, который по двум последовательным кадрам распределения частиц восстанавливает мгновенное поле скорости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161AA0B-7F63-4D85-8B42-AD5DCED923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47291" y="3065460"/>
            <a:ext cx="3659274" cy="3666393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8E6D0F3-3590-4981-81DA-5C249F4BF94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5392" y="3065461"/>
            <a:ext cx="3659273" cy="366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56294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591F8F8-A53A-4FA4-A09F-4794D3AF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Как работает метод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F0CDFD1-15FA-4CB3-BA2E-61CEDBB839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08885" cy="4351338"/>
          </a:xfrm>
        </p:spPr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Кажется, что на фотографиях где отчетливо видна каждая частица очевидно реализовывать метод, который будет сопоставлять частицы на двух кадрах, а затем считать перемещения. Такой метод существует </a:t>
            </a:r>
            <a:r>
              <a:rPr lang="en-US" dirty="0">
                <a:latin typeface="Bahnschrift SemiBold Condensed" panose="020B0502040204020203" pitchFamily="34" charset="0"/>
              </a:rPr>
              <a:t>Particle Tracking Velocimetry</a:t>
            </a:r>
            <a:r>
              <a:rPr lang="ru-RU" dirty="0">
                <a:latin typeface="Bahnschrift SemiBold Condensed" panose="020B0502040204020203" pitchFamily="34" charset="0"/>
              </a:rPr>
              <a:t>, но при огромном количестве частиц, которое обычно используется в экспериментах его использование оказывается слишком ресурс затратным</a:t>
            </a:r>
          </a:p>
          <a:p>
            <a:endParaRPr lang="ru-RU" dirty="0"/>
          </a:p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ECB0FEB6-C613-40E0-8800-CA31ADA0A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1822" y="1911346"/>
            <a:ext cx="3791479" cy="3562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01239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0AACDD-D6E3-4F81-8FFC-2D9F03B0A0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Как работает метод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628D1DF3-8BE2-4508-A494-6870C3266C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600092" cy="4351338"/>
          </a:xfrm>
        </p:spPr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Вместо этого пользуются непрерывностью потока, то есть можно взять достаточно маленький кусок первого изображения (который по все равно может содержать достаточно много частиц) и искать его на втором изображении. Из-за наличия потока этот кусок может сместиться от предыдущего места, но из-за непрерывности он будет слабо отличаться.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45307895-EAAB-4F4D-AE9B-65F46B98D7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47948" y="1825625"/>
            <a:ext cx="3905795" cy="3591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12853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185F4C2-8359-49FA-AE59-78ACA8E4D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Цель работы и этапы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D95D7A6-267A-469D-9FCB-5FF5616BF6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ru-RU" dirty="0">
                <a:latin typeface="Bahnschrift SemiBold Condensed" panose="020B0502040204020203" pitchFamily="34" charset="0"/>
              </a:rPr>
              <a:t>Исследовать возможности метода </a:t>
            </a:r>
            <a:r>
              <a:rPr lang="en-US" dirty="0">
                <a:latin typeface="Bahnschrift SemiBold Condensed" panose="020B0502040204020203" pitchFamily="34" charset="0"/>
              </a:rPr>
              <a:t>PIV</a:t>
            </a:r>
            <a:r>
              <a:rPr lang="ru-RU" dirty="0">
                <a:latin typeface="Bahnschrift SemiBold Condensed" panose="020B0502040204020203" pitchFamily="34" charset="0"/>
              </a:rPr>
              <a:t>, разобравшись в существующих доступных реализациях </a:t>
            </a:r>
            <a:r>
              <a:rPr lang="en-US" dirty="0">
                <a:latin typeface="Bahnschrift SemiBold Condensed" panose="020B0502040204020203" pitchFamily="34" charset="0"/>
              </a:rPr>
              <a:t>PIV</a:t>
            </a:r>
            <a:r>
              <a:rPr lang="ru-RU" dirty="0">
                <a:latin typeface="Bahnschrift SemiBold Condensed" panose="020B0502040204020203" pitchFamily="34" charset="0"/>
              </a:rPr>
              <a:t> или самостоятельно реализовав метод.</a:t>
            </a:r>
          </a:p>
          <a:p>
            <a:endParaRPr lang="ru-RU" dirty="0">
              <a:latin typeface="Bahnschrift SemiBold Condensed" panose="020B0502040204020203" pitchFamily="34" charset="0"/>
            </a:endParaRPr>
          </a:p>
          <a:p>
            <a:pPr marL="0" indent="0">
              <a:buNone/>
            </a:pPr>
            <a:r>
              <a:rPr lang="ru-RU" dirty="0">
                <a:latin typeface="Bahnschrift SemiBold Condensed" panose="020B0502040204020203" pitchFamily="34" charset="0"/>
              </a:rPr>
              <a:t>Этапы:</a:t>
            </a:r>
          </a:p>
          <a:p>
            <a:r>
              <a:rPr lang="ru-RU" dirty="0">
                <a:latin typeface="Bahnschrift SemiBold Condensed" panose="020B0502040204020203" pitchFamily="34" charset="0"/>
              </a:rPr>
              <a:t>Изучить литературу</a:t>
            </a:r>
          </a:p>
          <a:p>
            <a:r>
              <a:rPr lang="ru-RU" dirty="0">
                <a:latin typeface="Bahnschrift SemiBold Condensed" panose="020B0502040204020203" pitchFamily="34" charset="0"/>
              </a:rPr>
              <a:t>Поиск открытых реализаций метода (самостоятельная реализация)</a:t>
            </a:r>
          </a:p>
          <a:p>
            <a:r>
              <a:rPr lang="ru-RU" dirty="0">
                <a:latin typeface="Bahnschrift SemiBold Condensed" panose="020B0502040204020203" pitchFamily="34" charset="0"/>
              </a:rPr>
              <a:t>Создание генератора искусственных данных</a:t>
            </a:r>
          </a:p>
          <a:p>
            <a:r>
              <a:rPr lang="ru-RU" dirty="0">
                <a:latin typeface="Bahnschrift SemiBold Condensed" panose="020B0502040204020203" pitchFamily="34" charset="0"/>
              </a:rPr>
              <a:t>Проведение тестов и модификаций метода</a:t>
            </a:r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78815420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E745C46-9C6E-4659-9047-C6CEA69958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7136423" cy="1325563"/>
          </a:xfrm>
        </p:spPr>
        <p:txBody>
          <a:bodyPr>
            <a:normAutofit/>
          </a:bodyPr>
          <a:lstStyle/>
          <a:p>
            <a:r>
              <a:rPr lang="ru-RU" dirty="0">
                <a:latin typeface="Bahnschrift SemiBold Condensed" panose="020B0502040204020203" pitchFamily="34" charset="0"/>
              </a:rPr>
              <a:t>Создание генератора искусственных данных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84CA508B-B89F-4237-93F7-992DCE3EA7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6512169" cy="4351338"/>
          </a:xfrm>
        </p:spPr>
        <p:txBody>
          <a:bodyPr>
            <a:normAutofit/>
          </a:bodyPr>
          <a:lstStyle/>
          <a:p>
            <a:r>
              <a:rPr lang="ru-RU" sz="2400" dirty="0">
                <a:latin typeface="Bahnschrift SemiBold Condensed" panose="020B0502040204020203" pitchFamily="34" charset="0"/>
              </a:rPr>
              <a:t>Так как в методе нужно восстановить поле скорости по двум последовательным кадрам, то в генераторе должны создаваться поле скорости и первых кадр. Далее должен рассчитываться новый кадр, так у нас сразу будет достоверное поле скорости.</a:t>
            </a:r>
          </a:p>
          <a:p>
            <a:r>
              <a:rPr lang="ru-RU" sz="2400" dirty="0">
                <a:latin typeface="Bahnschrift SemiBold Condensed" panose="020B0502040204020203" pitchFamily="34" charset="0"/>
              </a:rPr>
              <a:t>Так как поток несжимаемый то удобно генерировать не поле скорости, а функцию тока. Что проделывается с помощью гладкого шума. </a:t>
            </a:r>
          </a:p>
          <a:p>
            <a:r>
              <a:rPr lang="ru-RU" sz="2400" dirty="0">
                <a:latin typeface="Bahnschrift SemiBold Condensed" panose="020B0502040204020203" pitchFamily="34" charset="0"/>
              </a:rPr>
              <a:t>Для первого кадра можно сгенерировать </a:t>
            </a:r>
            <a:r>
              <a:rPr lang="en-US" sz="2400" dirty="0">
                <a:latin typeface="Bahnschrift SemiBold Condensed" panose="020B0502040204020203" pitchFamily="34" charset="0"/>
              </a:rPr>
              <a:t>N </a:t>
            </a:r>
            <a:r>
              <a:rPr lang="ru-RU" sz="2400" dirty="0">
                <a:latin typeface="Bahnschrift SemiBold Condensed" panose="020B0502040204020203" pitchFamily="34" charset="0"/>
              </a:rPr>
              <a:t> точек равномерно распределенных по области. 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2E4C338F-843E-462F-8CF2-17321DEF29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11329" y="1215396"/>
            <a:ext cx="3337551" cy="2549769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2A9DCF3-E62D-4CBB-B1D7-83D85F5B7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9262" y="3765165"/>
            <a:ext cx="3289618" cy="3092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777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D65358E-F9BA-4BFD-86EE-856583B63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Создание генератора искусственных данных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74FC721-80D3-4A5B-AD01-36E551D4519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428392" cy="4351338"/>
          </a:xfrm>
        </p:spPr>
        <p:txBody>
          <a:bodyPr/>
          <a:lstStyle/>
          <a:p>
            <a:r>
              <a:rPr lang="ru-RU" sz="2800" dirty="0">
                <a:latin typeface="Bahnschrift SemiBold Condensed" panose="020B0502040204020203" pitchFamily="34" charset="0"/>
              </a:rPr>
              <a:t>Имея координату точки и скорость в этой точке несложно получить координату точки в следующий близкий момент времени</a:t>
            </a:r>
          </a:p>
          <a:p>
            <a:endParaRPr lang="ru-RU" dirty="0"/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2E7D8CCD-8D72-4DBA-8F66-A4645D8E6AC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6000" y="1558437"/>
            <a:ext cx="5870330" cy="4402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98708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01A20-83A2-4556-9F66-0D39C0D3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Поиск открытых реализаций метода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7669D2-CBF2-40D4-94F0-E6FAB990C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На текущий момент нашел одну реализацию </a:t>
            </a:r>
            <a:r>
              <a:rPr lang="en-US" dirty="0"/>
              <a:t>(</a:t>
            </a:r>
            <a:r>
              <a:rPr lang="en-US" dirty="0">
                <a:hlinkClick r:id="rId2"/>
              </a:rPr>
              <a:t>https://github.com/NikNazarov/TorchPIV</a:t>
            </a:r>
            <a:r>
              <a:rPr lang="en-US" dirty="0"/>
              <a:t>). </a:t>
            </a:r>
            <a:r>
              <a:rPr lang="ru-RU" dirty="0"/>
              <a:t>Установил на своем компьютере и запустил на предложенных тестах (экспериментальные фото на слайдах отсюда). </a:t>
            </a:r>
          </a:p>
        </p:txBody>
      </p:sp>
    </p:spTree>
    <p:extLst>
      <p:ext uri="{BB962C8B-B14F-4D97-AF65-F5344CB8AC3E}">
        <p14:creationId xmlns:p14="http://schemas.microsoft.com/office/powerpoint/2010/main" val="34109982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01A20-83A2-4556-9F66-0D39C0D3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Проведение тестов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7669D2-CBF2-40D4-94F0-E6FAB990C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Для удобного тестирования сторонних библиотек по расчету </a:t>
            </a:r>
            <a:r>
              <a:rPr lang="en-US" dirty="0"/>
              <a:t>PIV</a:t>
            </a:r>
            <a:r>
              <a:rPr lang="ru-RU" dirty="0"/>
              <a:t> создал несколько классов </a:t>
            </a:r>
            <a:r>
              <a:rPr lang="en-US" dirty="0"/>
              <a:t>python</a:t>
            </a:r>
            <a:r>
              <a:rPr lang="ru-RU" dirty="0"/>
              <a:t>. </a:t>
            </a:r>
            <a:br>
              <a:rPr lang="ru-RU" dirty="0"/>
            </a:br>
            <a:r>
              <a:rPr lang="en-US" dirty="0">
                <a:hlinkClick r:id="rId2"/>
              </a:rPr>
              <a:t>https://github.com/PavlovEgor/testPIV</a:t>
            </a:r>
            <a:r>
              <a:rPr lang="ru-RU" dirty="0"/>
              <a:t> </a:t>
            </a:r>
          </a:p>
          <a:p>
            <a:r>
              <a:rPr lang="ru-RU" dirty="0"/>
              <a:t>Реализованы три основных класса: описание течения жидкости (</a:t>
            </a:r>
            <a:r>
              <a:rPr lang="en-US" dirty="0"/>
              <a:t>Flow – </a:t>
            </a:r>
            <a:r>
              <a:rPr lang="ru-RU" dirty="0"/>
              <a:t>шаблонный класс </a:t>
            </a:r>
            <a:r>
              <a:rPr lang="en-US" dirty="0" err="1"/>
              <a:t>BasicFlow</a:t>
            </a:r>
            <a:r>
              <a:rPr lang="ru-RU" dirty="0"/>
              <a:t>, а реализация для гладкого шума </a:t>
            </a:r>
            <a:r>
              <a:rPr lang="en-US" dirty="0" err="1"/>
              <a:t>PenningFlow</a:t>
            </a:r>
            <a:r>
              <a:rPr lang="ru-RU" dirty="0"/>
              <a:t>)</a:t>
            </a:r>
            <a:r>
              <a:rPr lang="en-US" dirty="0"/>
              <a:t>, </a:t>
            </a:r>
            <a:r>
              <a:rPr lang="ru-RU" dirty="0"/>
              <a:t>описание системы частиц </a:t>
            </a:r>
            <a:r>
              <a:rPr lang="en-US" dirty="0"/>
              <a:t>(Particles – </a:t>
            </a:r>
            <a:r>
              <a:rPr lang="ru-RU" dirty="0"/>
              <a:t>шаблон </a:t>
            </a:r>
            <a:r>
              <a:rPr lang="en-US" dirty="0" err="1"/>
              <a:t>BasicParticles</a:t>
            </a:r>
            <a:r>
              <a:rPr lang="en-US" dirty="0"/>
              <a:t>, </a:t>
            </a:r>
            <a:r>
              <a:rPr lang="ru-RU" dirty="0"/>
              <a:t>равномерное распределение </a:t>
            </a:r>
            <a:r>
              <a:rPr lang="en-US" dirty="0" err="1"/>
              <a:t>RandomUniformParticles</a:t>
            </a:r>
            <a:r>
              <a:rPr lang="en-US" dirty="0"/>
              <a:t>) </a:t>
            </a:r>
            <a:r>
              <a:rPr lang="ru-RU" dirty="0"/>
              <a:t>и класс модели </a:t>
            </a:r>
            <a:r>
              <a:rPr lang="en-US" dirty="0"/>
              <a:t>PIV (</a:t>
            </a:r>
            <a:r>
              <a:rPr lang="en-US" dirty="0" err="1"/>
              <a:t>ModelPIV</a:t>
            </a:r>
            <a:r>
              <a:rPr lang="en-US" dirty="0"/>
              <a:t> – </a:t>
            </a:r>
            <a:r>
              <a:rPr lang="ru-RU" dirty="0"/>
              <a:t>шаблон </a:t>
            </a:r>
            <a:r>
              <a:rPr lang="en-US" dirty="0" err="1"/>
              <a:t>BasicModelPIV</a:t>
            </a:r>
            <a:r>
              <a:rPr lang="en-US" dirty="0"/>
              <a:t>, </a:t>
            </a:r>
            <a:r>
              <a:rPr lang="ru-RU" dirty="0"/>
              <a:t>реализация для библиотеки с предыдущего слайда </a:t>
            </a:r>
            <a:r>
              <a:rPr lang="en-US" dirty="0" err="1"/>
              <a:t>torchPIVModel</a:t>
            </a:r>
            <a:r>
              <a:rPr lang="en-US" dirty="0"/>
              <a:t>)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60224367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01A20-83A2-4556-9F66-0D39C0D3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Проведение тестов</a:t>
            </a:r>
            <a:endParaRPr lang="ru-RU" dirty="0"/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07669D2-CBF2-40D4-94F0-E6FAB990C2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Такой подход позволяет использовать одни и те же тесты, добавляя классы той или иной части системы (заменить гладкий шум на случайные синусы, равномерно распределенные частицы на что-то другое)</a:t>
            </a:r>
          </a:p>
          <a:p>
            <a:r>
              <a:rPr lang="ru-RU" dirty="0"/>
              <a:t>Ниже представлены результаты нескольких простых проведенных  тестов</a:t>
            </a:r>
          </a:p>
        </p:txBody>
      </p:sp>
    </p:spTree>
    <p:extLst>
      <p:ext uri="{BB962C8B-B14F-4D97-AF65-F5344CB8AC3E}">
        <p14:creationId xmlns:p14="http://schemas.microsoft.com/office/powerpoint/2010/main" val="29916057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01A20-83A2-4556-9F66-0D39C0D3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Проведение тестов: Простой тест на визуальное сравнение</a:t>
            </a:r>
            <a:endParaRPr lang="ru-RU" dirty="0"/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4A70B853-9E34-4C24-A44C-E0060EC471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69658" y="1101827"/>
            <a:ext cx="5462582" cy="5391048"/>
          </a:xfr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37A5E661-2DD6-489C-81CA-B9C5D0158264}"/>
              </a:ext>
            </a:extLst>
          </p:cNvPr>
          <p:cNvSpPr txBox="1"/>
          <p:nvPr/>
        </p:nvSpPr>
        <p:spPr>
          <a:xfrm>
            <a:off x="900187" y="1743519"/>
            <a:ext cx="379499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этом тесте результат аналитической модели с гладким шумом </a:t>
            </a:r>
            <a:r>
              <a:rPr lang="ru-RU" dirty="0" err="1"/>
              <a:t>Пеннинга</a:t>
            </a:r>
            <a:r>
              <a:rPr lang="ru-RU" dirty="0"/>
              <a:t> (красные стрелочки) сравнивается с численным методом </a:t>
            </a:r>
            <a:r>
              <a:rPr lang="en-US" dirty="0"/>
              <a:t>PIV </a:t>
            </a:r>
            <a:r>
              <a:rPr lang="ru-RU" dirty="0"/>
              <a:t>(черные стрелочки)</a:t>
            </a:r>
          </a:p>
        </p:txBody>
      </p:sp>
    </p:spTree>
    <p:extLst>
      <p:ext uri="{BB962C8B-B14F-4D97-AF65-F5344CB8AC3E}">
        <p14:creationId xmlns:p14="http://schemas.microsoft.com/office/powerpoint/2010/main" val="1476060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2601A20-83A2-4556-9F66-0D39C0D3C9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>
                <a:latin typeface="Bahnschrift SemiBold Condensed" panose="020B0502040204020203" pitchFamily="34" charset="0"/>
              </a:rPr>
              <a:t>Проведение тестов: Оптимизация количества частиц в системе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A5E661-2DD6-489C-81CA-B9C5D0158264}"/>
              </a:ext>
            </a:extLst>
          </p:cNvPr>
          <p:cNvSpPr txBox="1"/>
          <p:nvPr/>
        </p:nvSpPr>
        <p:spPr>
          <a:xfrm>
            <a:off x="900187" y="1743519"/>
            <a:ext cx="3794996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dirty="0"/>
              <a:t>В этом тесте изменяется количество частиц в системе. Ошибка определяется как средний квадрат отклонений векторов полученных векторов скоростей. </a:t>
            </a:r>
            <a:br>
              <a:rPr lang="ru-RU" dirty="0"/>
            </a:br>
            <a:br>
              <a:rPr lang="ru-RU" dirty="0"/>
            </a:br>
            <a:r>
              <a:rPr lang="ru-RU" dirty="0"/>
              <a:t>Систематическая ошибка может быть связана с точечным определением аналитической скорости. В отличии от </a:t>
            </a:r>
            <a:r>
              <a:rPr lang="en-US" dirty="0"/>
              <a:t>PIV</a:t>
            </a:r>
            <a:r>
              <a:rPr lang="ru-RU" dirty="0"/>
              <a:t>, который выдает некоторое усредненное значение в окне заданного размера</a:t>
            </a: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696CAAC1-9A72-43AC-82A9-E8DBC39FD8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25157" y="1397658"/>
            <a:ext cx="5897148" cy="4593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9460611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166</TotalTime>
  <Words>601</Words>
  <Application>Microsoft Office PowerPoint</Application>
  <PresentationFormat>Широкоэкранный</PresentationFormat>
  <Paragraphs>39</Paragraphs>
  <Slides>13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13</vt:i4>
      </vt:variant>
    </vt:vector>
  </HeadingPairs>
  <TitlesOfParts>
    <vt:vector size="18" baseType="lpstr">
      <vt:lpstr>Arial</vt:lpstr>
      <vt:lpstr>Bahnschrift SemiBold Condensed</vt:lpstr>
      <vt:lpstr>Calibri</vt:lpstr>
      <vt:lpstr>Calibri Light</vt:lpstr>
      <vt:lpstr>Тема Office</vt:lpstr>
      <vt:lpstr>Изучение алгоритмов обработки изображений частиц для расчета мгновенного поля скорости. Particle Image Velocimetry (PIV)</vt:lpstr>
      <vt:lpstr>О чем метод</vt:lpstr>
      <vt:lpstr>О чем метод</vt:lpstr>
      <vt:lpstr>Как работает метод</vt:lpstr>
      <vt:lpstr>Как работает метод</vt:lpstr>
      <vt:lpstr>Цель работы и этапы</vt:lpstr>
      <vt:lpstr>Создание генератора искусственных данных</vt:lpstr>
      <vt:lpstr>Создание генератора искусственных данных</vt:lpstr>
      <vt:lpstr>Поиск открытых реализаций метода</vt:lpstr>
      <vt:lpstr>Проведение тестов</vt:lpstr>
      <vt:lpstr>Проведение тестов</vt:lpstr>
      <vt:lpstr>Проведение тестов: Простой тест на визуальное сравнение</vt:lpstr>
      <vt:lpstr>Проведение тестов: Оптимизация количества частиц в системе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Изучение алгоритмов обработки изображений частиц для расчета мгновенного поля скорости. Particle Image Velocimetry (PIV)</dc:title>
  <dc:creator>егор павлов</dc:creator>
  <cp:lastModifiedBy>егор павлов</cp:lastModifiedBy>
  <cp:revision>14</cp:revision>
  <dcterms:created xsi:type="dcterms:W3CDTF">2026-03-06T18:14:13Z</dcterms:created>
  <dcterms:modified xsi:type="dcterms:W3CDTF">2026-04-27T21:19:48Z</dcterms:modified>
</cp:coreProperties>
</file>