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8" r:id="rId12"/>
    <p:sldId id="269" r:id="rId13"/>
    <p:sldId id="270" r:id="rId14"/>
    <p:sldId id="272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6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0D74F4-D6C7-4F83-9FA3-7D42DBC85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6833005-DA95-4BC4-8D4D-EEF4DC573E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5CB30F7-D944-4648-BB84-5A5D7E52D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4ADA0-5919-4E9A-86CC-FDD0BCB70E6E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4A565A1-7F35-4B6E-903E-E2CBD4DC9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5BAB19-A576-45A8-B9D5-D738A6A66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5928A-73CB-4E6F-956B-9F6EE2835A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1978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F709B3-7678-4A96-9108-ED5B993C1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2937E9-5A03-453C-8F4A-85FD18B25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066FDA-2111-44B8-8D7F-A80F83DC9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4ADA0-5919-4E9A-86CC-FDD0BCB70E6E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6B0541F-B7E7-49EB-A996-E2CF7F709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2D054E-1959-413C-AA97-CE6851362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5928A-73CB-4E6F-956B-9F6EE2835A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7159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2C8C99-5B7E-444D-9FCF-3CC4DA2BE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46872C6-00B7-439D-A9A7-E4A491955D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DBFCC95-9EDE-4A27-9AC4-1C37910D6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4ADA0-5919-4E9A-86CC-FDD0BCB70E6E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CE5C088-9E99-44C9-8968-0F59E7A58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8D8CD7C-76BB-4CE0-941E-5F88E5242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5928A-73CB-4E6F-956B-9F6EE2835A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1769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216DCB-A5E6-4B7B-99EE-40B639B2A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B98F38-7A11-4D15-B81D-8D510D449D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3091E22-E8AB-45C6-BE49-30125AB39E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01FDBE6-3BD0-4686-8CF3-A3007F045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4ADA0-5919-4E9A-86CC-FDD0BCB70E6E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287933B-B4ED-474D-B698-829545C8C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10BBB41-A461-4858-BC7E-6D4A98E36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5928A-73CB-4E6F-956B-9F6EE2835A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2083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DF31EC-8EA2-4F7E-A6E2-A4393E2EE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8592829-00CF-49CB-AE7C-878C7C0E1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CAE6670-8B0C-4F6D-A84C-24FE4ED150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CFEFB80-0FEC-4C38-B33C-D228F8ACD4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020375B-1BBC-4101-BE22-B594D95D6E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2CC1D8A-02BE-4F02-8B36-232D123B4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4ADA0-5919-4E9A-86CC-FDD0BCB70E6E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F97297C-95BB-4146-A64E-7F1D047A1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C06403B-CA33-4D7C-AE31-E86B0F3A1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5928A-73CB-4E6F-956B-9F6EE2835A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8225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950DA8-773A-460E-92C0-2E8F7619E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797FDBB-1D05-488B-9334-3926432E5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4ADA0-5919-4E9A-86CC-FDD0BCB70E6E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AAE75F3-5A72-461E-892F-C5F1D9AF8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E8DA450-EB1C-436F-AA5C-72BF3F2FB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5928A-73CB-4E6F-956B-9F6EE2835A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1768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3B7E4EB-EC69-410F-8887-D8598942E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4ADA0-5919-4E9A-86CC-FDD0BCB70E6E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C790F4E-56DB-4119-BFC5-DE2B79E01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3ED0E69-854C-405D-A3F0-3FBEF22C8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5928A-73CB-4E6F-956B-9F6EE2835A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5711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7E3151-E7D4-4765-96C6-E73B3A89F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CCD917F-EF60-4C4D-9DE5-3F6B50393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AB486B9-0060-409D-89A9-ED312776E0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37BED10-1B04-43B7-BF93-EC7F662BE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4ADA0-5919-4E9A-86CC-FDD0BCB70E6E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D151252-F753-448F-BC22-DA9DF0B7E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41E8926-1512-456C-BBCF-E73E7698C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5928A-73CB-4E6F-956B-9F6EE2835A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1908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D045D7-9352-4860-B4FF-00F40A31D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E885147-658B-4FBB-8C05-4AC815D02B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75353DB-776E-4173-90D7-93C0560085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839EF24-1DC5-4F67-8675-2AFFD6725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4ADA0-5919-4E9A-86CC-FDD0BCB70E6E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6000757-88B9-4F49-856B-F5BCFBA43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3304540-ABB9-47DA-AA36-CD6AEC1F7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5928A-73CB-4E6F-956B-9F6EE2835A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8989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7D8EEA-DF2E-4EA2-A42F-C0AAABF76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62A5C63-5426-4324-B30A-8B6F0025CA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58F5C4A-7AAA-4232-8CFF-20DD3C140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4ADA0-5919-4E9A-86CC-FDD0BCB70E6E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55915CF-6E42-40E9-8088-E0B7D41E4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853D6B3-B9FA-42AD-9003-EFC4F6EFD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5928A-73CB-4E6F-956B-9F6EE2835A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9931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BD57DFD-4B0D-4A8B-BAC8-98D82EDE99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B9EB2E5-74D8-409C-A3E0-45C4FBCC3C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2D52A49-94CA-451A-8936-4FACC22AA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4ADA0-5919-4E9A-86CC-FDD0BCB70E6E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8B8696E-2123-4B0F-AC51-12FF3D445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0DBED57-3E90-41EB-9916-4F86C3B93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5928A-73CB-4E6F-956B-9F6EE2835A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7773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F0A13E-9861-495A-82BD-0C375EDF6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F236296-4840-43F5-97CB-B17916BCD2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16CFCE5-EBCC-4697-BA8B-F0CA8BC755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B4ADA0-5919-4E9A-86CC-FDD0BCB70E6E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3B49326-8612-46A5-B33C-4AEC77C2D1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A78093-CFA5-435B-902B-E8D22E7E0A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15928A-73CB-4E6F-956B-9F6EE2835A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2076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ikNazarov/TorchPIV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avlovEgor/testPIV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533AA9-DCD5-41E0-8BB8-A7ED6448FB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0" y="1122363"/>
            <a:ext cx="7010400" cy="2387600"/>
          </a:xfrm>
        </p:spPr>
        <p:txBody>
          <a:bodyPr>
            <a:normAutofit/>
          </a:bodyPr>
          <a:lstStyle/>
          <a:p>
            <a:pPr algn="r"/>
            <a:r>
              <a:rPr lang="ru-RU" sz="4000" dirty="0">
                <a:latin typeface="Bahnschrift SemiBold Condensed" panose="020B0502040204020203" pitchFamily="34" charset="0"/>
              </a:rPr>
              <a:t>Изучение алгоритмов обработки изображений частиц для расчета мгновенного поля скорости.</a:t>
            </a:r>
            <a:br>
              <a:rPr lang="ru-RU" sz="4000" dirty="0">
                <a:latin typeface="Bahnschrift SemiBold Condensed" panose="020B0502040204020203" pitchFamily="34" charset="0"/>
              </a:rPr>
            </a:br>
            <a:r>
              <a:rPr lang="en-US" sz="4000" dirty="0">
                <a:latin typeface="Bahnschrift SemiBold Condensed" panose="020B0502040204020203" pitchFamily="34" charset="0"/>
              </a:rPr>
              <a:t>Particle Image Velocimetry (PIV)</a:t>
            </a:r>
            <a:endParaRPr lang="ru-RU" sz="4000" dirty="0">
              <a:latin typeface="Bahnschrift SemiBold Condensed" panose="020B0502040204020203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EF5E018-2AC4-4C30-A7A4-10648E0D13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ru-RU" dirty="0">
                <a:latin typeface="Bahnschrift SemiBold Condensed" panose="020B0502040204020203" pitchFamily="34" charset="0"/>
              </a:rPr>
              <a:t>Павлов Егор Павлович</a:t>
            </a:r>
          </a:p>
        </p:txBody>
      </p:sp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F24065A4-4703-4BF5-95EE-0B522A7305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131" y="2856829"/>
            <a:ext cx="4864100" cy="3648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7612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C95BE4-8267-40A7-A7DF-20B607E52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Bahnschrift SemiBold Condensed" panose="020B0502040204020203" pitchFamily="34" charset="0"/>
              </a:rPr>
              <a:t>О чем метод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C59326-9C7F-45D1-BAD3-038FB365B2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416" y="1690688"/>
            <a:ext cx="7160846" cy="4351338"/>
          </a:xfrm>
        </p:spPr>
        <p:txBody>
          <a:bodyPr>
            <a:normAutofit fontScale="92500"/>
          </a:bodyPr>
          <a:lstStyle/>
          <a:p>
            <a:r>
              <a:rPr lang="ru-RU" dirty="0">
                <a:latin typeface="Bahnschrift SemiBold Condensed" panose="020B0502040204020203" pitchFamily="34" charset="0"/>
              </a:rPr>
              <a:t>Хочется: получать мгновенное поле скорости в изучаемой области течения жидкости</a:t>
            </a:r>
            <a:r>
              <a:rPr lang="en-US" dirty="0">
                <a:latin typeface="Bahnschrift SemiBold Condensed" panose="020B0502040204020203" pitchFamily="34" charset="0"/>
              </a:rPr>
              <a:t>, </a:t>
            </a:r>
            <a:r>
              <a:rPr lang="ru-RU" dirty="0">
                <a:latin typeface="Bahnschrift SemiBold Condensed" panose="020B0502040204020203" pitchFamily="34" charset="0"/>
              </a:rPr>
              <a:t>чтобы например сравнивать с теоретическими или численными результатами</a:t>
            </a:r>
          </a:p>
          <a:p>
            <a:r>
              <a:rPr lang="ru-RU" dirty="0">
                <a:latin typeface="Bahnschrift SemiBold Condensed" panose="020B0502040204020203" pitchFamily="34" charset="0"/>
              </a:rPr>
              <a:t>Проблема1: жидкость прозрачная, просто так ничего не увидеть</a:t>
            </a:r>
          </a:p>
          <a:p>
            <a:r>
              <a:rPr lang="ru-RU" dirty="0">
                <a:latin typeface="Bahnschrift SemiBold Condensed" panose="020B0502040204020203" pitchFamily="34" charset="0"/>
              </a:rPr>
              <a:t>Решение: добавить в жидкость частиц и подсветить их лазером, чтобы лучше отображались на фотографиях</a:t>
            </a:r>
          </a:p>
          <a:p>
            <a:r>
              <a:rPr lang="ru-RU" dirty="0">
                <a:latin typeface="Bahnschrift SemiBold Condensed" panose="020B0502040204020203" pitchFamily="34" charset="0"/>
              </a:rPr>
              <a:t>Проблема2: даже обладая фотографиями распределений частиц в близкие моменты времени восстановить мгновенное поле скорости нетривиальная задача</a:t>
            </a:r>
          </a:p>
          <a:p>
            <a:endParaRPr lang="ru-RU" dirty="0"/>
          </a:p>
          <a:p>
            <a:endParaRPr lang="ru-RU" dirty="0"/>
          </a:p>
        </p:txBody>
      </p:sp>
      <p:pic>
        <p:nvPicPr>
          <p:cNvPr id="2054" name="Picture 6" descr="Picture background">
            <a:extLst>
              <a:ext uri="{FF2B5EF4-FFF2-40B4-BE49-F238E27FC236}">
                <a16:creationId xmlns:a16="http://schemas.microsoft.com/office/drawing/2014/main" id="{819E34A5-AC57-440F-B777-C129DBE18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8963" y="112041"/>
            <a:ext cx="3829539" cy="2154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Picture background">
            <a:extLst>
              <a:ext uri="{FF2B5EF4-FFF2-40B4-BE49-F238E27FC236}">
                <a16:creationId xmlns:a16="http://schemas.microsoft.com/office/drawing/2014/main" id="{5D0ABC49-FBB5-424E-AEF3-B0738E3057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302" y="2935441"/>
            <a:ext cx="4640304" cy="343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7245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DFC080-84C0-4756-A8ED-EDF7CA44D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Bahnschrift SemiBold Condensed" panose="020B0502040204020203" pitchFamily="34" charset="0"/>
              </a:rPr>
              <a:t>О чем метод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CB2B292-D4E0-45DC-A6C6-B5DD1DE29B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475177" cy="4351338"/>
          </a:xfrm>
        </p:spPr>
        <p:txBody>
          <a:bodyPr/>
          <a:lstStyle/>
          <a:p>
            <a:r>
              <a:rPr lang="ru-RU" dirty="0">
                <a:latin typeface="Bahnschrift SemiBold Condensed" panose="020B0502040204020203" pitchFamily="34" charset="0"/>
              </a:rPr>
              <a:t>Именно для решения второй проблемы и создан </a:t>
            </a:r>
            <a:r>
              <a:rPr lang="en-US" dirty="0">
                <a:latin typeface="Bahnschrift SemiBold Condensed" panose="020B0502040204020203" pitchFamily="34" charset="0"/>
              </a:rPr>
              <a:t>PIV</a:t>
            </a:r>
            <a:r>
              <a:rPr lang="ru-RU" dirty="0">
                <a:latin typeface="Bahnschrift SemiBold Condensed" panose="020B0502040204020203" pitchFamily="34" charset="0"/>
              </a:rPr>
              <a:t>, который по двум последовательным кадрам распределения частиц восстанавливает мгновенное поле скорости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161AA0B-7F63-4D85-8B42-AD5DCED923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7291" y="3065460"/>
            <a:ext cx="3659274" cy="366639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8E6D0F3-3590-4981-81DA-5C249F4BF9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5392" y="3065461"/>
            <a:ext cx="3659273" cy="3666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629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91F8F8-A53A-4FA4-A09F-4794D3AF6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Bahnschrift SemiBold Condensed" panose="020B0502040204020203" pitchFamily="34" charset="0"/>
              </a:rPr>
              <a:t>Как работает метод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0CDFD1-15FA-4CB3-BA2E-61CEDBB839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08885" cy="4351338"/>
          </a:xfrm>
        </p:spPr>
        <p:txBody>
          <a:bodyPr/>
          <a:lstStyle/>
          <a:p>
            <a:r>
              <a:rPr lang="ru-RU" dirty="0">
                <a:latin typeface="Bahnschrift SemiBold Condensed" panose="020B0502040204020203" pitchFamily="34" charset="0"/>
              </a:rPr>
              <a:t>Кажется, что на фотографиях где отчетливо видна каждая частица очевидно реализовывать метод, который будет сопоставлять частицы на двух кадрах, а затем считать перемещения. Такой метод существует </a:t>
            </a:r>
            <a:r>
              <a:rPr lang="en-US" dirty="0">
                <a:latin typeface="Bahnschrift SemiBold Condensed" panose="020B0502040204020203" pitchFamily="34" charset="0"/>
              </a:rPr>
              <a:t>Particle Tracking Velocimetry</a:t>
            </a:r>
            <a:r>
              <a:rPr lang="ru-RU" dirty="0">
                <a:latin typeface="Bahnschrift SemiBold Condensed" panose="020B0502040204020203" pitchFamily="34" charset="0"/>
              </a:rPr>
              <a:t>, но при огромном количестве частиц, которое обычно используется в экспериментах его использование оказывается слишком ресурс затратным</a:t>
            </a:r>
          </a:p>
          <a:p>
            <a:endParaRPr lang="ru-RU" dirty="0"/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CB0FEB6-C613-40E0-8800-CA31ADA0A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1822" y="1911346"/>
            <a:ext cx="3791479" cy="3562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123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0AACDD-D6E3-4F81-8FFC-2D9F03B0A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Bahnschrift SemiBold Condensed" panose="020B0502040204020203" pitchFamily="34" charset="0"/>
              </a:rPr>
              <a:t>Как работает метод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8D1DF3-8BE2-4508-A494-6870C3266C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00092" cy="4351338"/>
          </a:xfrm>
        </p:spPr>
        <p:txBody>
          <a:bodyPr/>
          <a:lstStyle/>
          <a:p>
            <a:r>
              <a:rPr lang="ru-RU" dirty="0">
                <a:latin typeface="Bahnschrift SemiBold Condensed" panose="020B0502040204020203" pitchFamily="34" charset="0"/>
              </a:rPr>
              <a:t>Вместо этого пользуются непрерывностью потока, то есть можно взять достаточно маленький кусок первого изображения (который по все равно может содержать достаточно много частиц) и искать его на втором изображении. Из-за наличия потока этот кусок может сместиться от предыдущего места, но из-за непрерывности он будет слабо отличаться.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5307895-EAAB-4F4D-AE9B-65F46B98D7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7948" y="1825625"/>
            <a:ext cx="3905795" cy="359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285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85F4C2-8359-49FA-AE59-78ACA8E4D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Bahnschrift SemiBold Condensed" panose="020B0502040204020203" pitchFamily="34" charset="0"/>
              </a:rPr>
              <a:t>Цель работы и этапы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95D7A6-267A-469D-9FCB-5FF5616BF6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Bahnschrift SemiBold Condensed" panose="020B0502040204020203" pitchFamily="34" charset="0"/>
              </a:rPr>
              <a:t>Исследовать возможности метода </a:t>
            </a:r>
            <a:r>
              <a:rPr lang="en-US" dirty="0">
                <a:latin typeface="Bahnschrift SemiBold Condensed" panose="020B0502040204020203" pitchFamily="34" charset="0"/>
              </a:rPr>
              <a:t>PIV</a:t>
            </a:r>
            <a:r>
              <a:rPr lang="ru-RU" dirty="0">
                <a:latin typeface="Bahnschrift SemiBold Condensed" panose="020B0502040204020203" pitchFamily="34" charset="0"/>
              </a:rPr>
              <a:t>, разобравшись в существующих доступных реализациях </a:t>
            </a:r>
            <a:r>
              <a:rPr lang="en-US" dirty="0">
                <a:latin typeface="Bahnschrift SemiBold Condensed" panose="020B0502040204020203" pitchFamily="34" charset="0"/>
              </a:rPr>
              <a:t>PIV</a:t>
            </a:r>
            <a:r>
              <a:rPr lang="ru-RU" dirty="0">
                <a:latin typeface="Bahnschrift SemiBold Condensed" panose="020B0502040204020203" pitchFamily="34" charset="0"/>
              </a:rPr>
              <a:t> или самостоятельно реализовав метод.</a:t>
            </a:r>
          </a:p>
          <a:p>
            <a:endParaRPr lang="ru-RU" dirty="0">
              <a:latin typeface="Bahnschrift SemiBold Condensed" panose="020B0502040204020203" pitchFamily="34" charset="0"/>
            </a:endParaRPr>
          </a:p>
          <a:p>
            <a:pPr marL="0" indent="0">
              <a:buNone/>
            </a:pPr>
            <a:r>
              <a:rPr lang="ru-RU" dirty="0">
                <a:latin typeface="Bahnschrift SemiBold Condensed" panose="020B0502040204020203" pitchFamily="34" charset="0"/>
              </a:rPr>
              <a:t>Этапы:</a:t>
            </a:r>
          </a:p>
          <a:p>
            <a:r>
              <a:rPr lang="ru-RU" dirty="0">
                <a:latin typeface="Bahnschrift SemiBold Condensed" panose="020B0502040204020203" pitchFamily="34" charset="0"/>
              </a:rPr>
              <a:t>Изучить литературу</a:t>
            </a:r>
          </a:p>
          <a:p>
            <a:r>
              <a:rPr lang="ru-RU" dirty="0">
                <a:latin typeface="Bahnschrift SemiBold Condensed" panose="020B0502040204020203" pitchFamily="34" charset="0"/>
              </a:rPr>
              <a:t>Поиск открытых реализаций метода (самостоятельная реализация)</a:t>
            </a:r>
          </a:p>
          <a:p>
            <a:r>
              <a:rPr lang="ru-RU" dirty="0">
                <a:latin typeface="Bahnschrift SemiBold Condensed" panose="020B0502040204020203" pitchFamily="34" charset="0"/>
              </a:rPr>
              <a:t>Создание генератора искусственных данных</a:t>
            </a:r>
          </a:p>
          <a:p>
            <a:r>
              <a:rPr lang="ru-RU" dirty="0">
                <a:latin typeface="Bahnschrift SemiBold Condensed" panose="020B0502040204020203" pitchFamily="34" charset="0"/>
              </a:rPr>
              <a:t>Проведение тестов и модификаций метода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88154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745C46-9C6E-4659-9047-C6CEA6995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136423" cy="1325563"/>
          </a:xfrm>
        </p:spPr>
        <p:txBody>
          <a:bodyPr>
            <a:normAutofit/>
          </a:bodyPr>
          <a:lstStyle/>
          <a:p>
            <a:r>
              <a:rPr lang="ru-RU" dirty="0">
                <a:latin typeface="Bahnschrift SemiBold Condensed" panose="020B0502040204020203" pitchFamily="34" charset="0"/>
              </a:rPr>
              <a:t>Создание генератора искусственных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CA508B-B89F-4237-93F7-992DCE3EA7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512169" cy="4351338"/>
          </a:xfrm>
        </p:spPr>
        <p:txBody>
          <a:bodyPr>
            <a:normAutofit/>
          </a:bodyPr>
          <a:lstStyle/>
          <a:p>
            <a:r>
              <a:rPr lang="ru-RU" sz="2400" dirty="0">
                <a:latin typeface="Bahnschrift SemiBold Condensed" panose="020B0502040204020203" pitchFamily="34" charset="0"/>
              </a:rPr>
              <a:t>Так как в методе нужно восстановить поле скорости по двум последовательным кадрам, то в генераторе должны создаваться поле скорости и первых кадр. Далее должен рассчитываться новый кадр, так у нас сразу будет достоверное поле скорости.</a:t>
            </a:r>
          </a:p>
          <a:p>
            <a:r>
              <a:rPr lang="ru-RU" sz="2400" dirty="0">
                <a:latin typeface="Bahnschrift SemiBold Condensed" panose="020B0502040204020203" pitchFamily="34" charset="0"/>
              </a:rPr>
              <a:t>Так как поток несжимаемый то удобно генерировать не поле скорости, а функцию тока. Что проделывается с помощью гладкого шума. </a:t>
            </a:r>
          </a:p>
          <a:p>
            <a:r>
              <a:rPr lang="ru-RU" sz="2400" dirty="0">
                <a:latin typeface="Bahnschrift SemiBold Condensed" panose="020B0502040204020203" pitchFamily="34" charset="0"/>
              </a:rPr>
              <a:t>Для первого кадра можно сгенерировать </a:t>
            </a:r>
            <a:r>
              <a:rPr lang="en-US" sz="2400" dirty="0">
                <a:latin typeface="Bahnschrift SemiBold Condensed" panose="020B0502040204020203" pitchFamily="34" charset="0"/>
              </a:rPr>
              <a:t>N </a:t>
            </a:r>
            <a:r>
              <a:rPr lang="ru-RU" sz="2400" dirty="0">
                <a:latin typeface="Bahnschrift SemiBold Condensed" panose="020B0502040204020203" pitchFamily="34" charset="0"/>
              </a:rPr>
              <a:t> точек равномерно распределенных по области.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E4C338F-843E-462F-8CF2-17321DEF2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1329" y="1215396"/>
            <a:ext cx="3337551" cy="254976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2A9DCF3-E62D-4CBB-B1D7-83D85F5B75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9262" y="3765165"/>
            <a:ext cx="3289618" cy="309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7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65358E-F9BA-4BFD-86EE-856583B63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Bahnschrift SemiBold Condensed" panose="020B0502040204020203" pitchFamily="34" charset="0"/>
              </a:rPr>
              <a:t>Создание генератора искусственных данных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4FC721-80D3-4A5B-AD01-36E551D451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28392" cy="4351338"/>
          </a:xfrm>
        </p:spPr>
        <p:txBody>
          <a:bodyPr/>
          <a:lstStyle/>
          <a:p>
            <a:r>
              <a:rPr lang="ru-RU" sz="2800" dirty="0">
                <a:latin typeface="Bahnschrift SemiBold Condensed" panose="020B0502040204020203" pitchFamily="34" charset="0"/>
              </a:rPr>
              <a:t>Имея координату точки и скорость в этой точке несложно получить координату точки в следующий близкий момент времени</a:t>
            </a:r>
          </a:p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E7D8CCD-8D72-4DBA-8F66-A4645D8E6A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58437"/>
            <a:ext cx="5870330" cy="4402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70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601A20-83A2-4556-9F66-0D39C0D3C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Bahnschrift SemiBold Condensed" panose="020B0502040204020203" pitchFamily="34" charset="0"/>
              </a:rPr>
              <a:t>Поиск открытых реализаций метода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7669D2-CBF2-40D4-94F0-E6FAB990C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На текущий момент нашел одну реализацию </a:t>
            </a:r>
            <a:r>
              <a:rPr lang="en-US" dirty="0"/>
              <a:t>(</a:t>
            </a:r>
            <a:r>
              <a:rPr lang="en-US" dirty="0">
                <a:hlinkClick r:id="rId2"/>
              </a:rPr>
              <a:t>https://github.com/NikNazarov/TorchPIV</a:t>
            </a:r>
            <a:r>
              <a:rPr lang="en-US" dirty="0"/>
              <a:t>). </a:t>
            </a:r>
            <a:r>
              <a:rPr lang="ru-RU" dirty="0"/>
              <a:t>Установил на своем компьютере и запустил на предложенных тестах (экспериментальные фото на слайдах отсюда). </a:t>
            </a:r>
          </a:p>
        </p:txBody>
      </p:sp>
    </p:spTree>
    <p:extLst>
      <p:ext uri="{BB962C8B-B14F-4D97-AF65-F5344CB8AC3E}">
        <p14:creationId xmlns:p14="http://schemas.microsoft.com/office/powerpoint/2010/main" val="3410998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601A20-83A2-4556-9F66-0D39C0D3C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Bahnschrift SemiBold Condensed" panose="020B0502040204020203" pitchFamily="34" charset="0"/>
              </a:rPr>
              <a:t>Проведение тестов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7669D2-CBF2-40D4-94F0-E6FAB990C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Для удобного тестирования сторонних библиотек по расчету </a:t>
            </a:r>
            <a:r>
              <a:rPr lang="en-US" dirty="0"/>
              <a:t>PIV</a:t>
            </a:r>
            <a:r>
              <a:rPr lang="ru-RU" dirty="0"/>
              <a:t> создал несколько классов </a:t>
            </a:r>
            <a:r>
              <a:rPr lang="en-US" dirty="0"/>
              <a:t>python</a:t>
            </a:r>
            <a:r>
              <a:rPr lang="ru-RU" dirty="0"/>
              <a:t>. </a:t>
            </a:r>
            <a:br>
              <a:rPr lang="ru-RU" dirty="0"/>
            </a:br>
            <a:r>
              <a:rPr lang="en-US" dirty="0">
                <a:hlinkClick r:id="rId2"/>
              </a:rPr>
              <a:t>https://github.com/PavlovEgor/testPIV</a:t>
            </a:r>
            <a:r>
              <a:rPr lang="ru-RU" dirty="0"/>
              <a:t> </a:t>
            </a:r>
          </a:p>
          <a:p>
            <a:r>
              <a:rPr lang="ru-RU" dirty="0"/>
              <a:t>Реализованы три основных класса: описание течения жидкости (</a:t>
            </a:r>
            <a:r>
              <a:rPr lang="en-US" dirty="0"/>
              <a:t>Flow – </a:t>
            </a:r>
            <a:r>
              <a:rPr lang="ru-RU" dirty="0"/>
              <a:t>шаблонный класс </a:t>
            </a:r>
            <a:r>
              <a:rPr lang="en-US" dirty="0" err="1"/>
              <a:t>BasicFlow</a:t>
            </a:r>
            <a:r>
              <a:rPr lang="ru-RU" dirty="0"/>
              <a:t>, а реализация для гладкого шума </a:t>
            </a:r>
            <a:r>
              <a:rPr lang="en-US" dirty="0" err="1"/>
              <a:t>PenningFlow</a:t>
            </a:r>
            <a:r>
              <a:rPr lang="ru-RU" dirty="0"/>
              <a:t>)</a:t>
            </a:r>
            <a:r>
              <a:rPr lang="en-US" dirty="0"/>
              <a:t>, </a:t>
            </a:r>
            <a:r>
              <a:rPr lang="ru-RU" dirty="0"/>
              <a:t>описание системы частиц </a:t>
            </a:r>
            <a:r>
              <a:rPr lang="en-US" dirty="0"/>
              <a:t>(Particles – </a:t>
            </a:r>
            <a:r>
              <a:rPr lang="ru-RU" dirty="0"/>
              <a:t>шаблон </a:t>
            </a:r>
            <a:r>
              <a:rPr lang="en-US" dirty="0" err="1"/>
              <a:t>BasicParticles</a:t>
            </a:r>
            <a:r>
              <a:rPr lang="en-US" dirty="0"/>
              <a:t>, </a:t>
            </a:r>
            <a:r>
              <a:rPr lang="ru-RU" dirty="0"/>
              <a:t>равномерное распределение </a:t>
            </a:r>
            <a:r>
              <a:rPr lang="en-US" dirty="0" err="1"/>
              <a:t>RandomUniformParticles</a:t>
            </a:r>
            <a:r>
              <a:rPr lang="en-US" dirty="0"/>
              <a:t>) </a:t>
            </a:r>
            <a:r>
              <a:rPr lang="ru-RU" dirty="0"/>
              <a:t>и класс модели </a:t>
            </a:r>
            <a:r>
              <a:rPr lang="en-US" dirty="0"/>
              <a:t>PIV (</a:t>
            </a:r>
            <a:r>
              <a:rPr lang="en-US" dirty="0" err="1"/>
              <a:t>ModelPIV</a:t>
            </a:r>
            <a:r>
              <a:rPr lang="en-US" dirty="0"/>
              <a:t> – </a:t>
            </a:r>
            <a:r>
              <a:rPr lang="ru-RU" dirty="0"/>
              <a:t>шаблон </a:t>
            </a:r>
            <a:r>
              <a:rPr lang="en-US" dirty="0" err="1"/>
              <a:t>BasicModelPIV</a:t>
            </a:r>
            <a:r>
              <a:rPr lang="en-US" dirty="0"/>
              <a:t>, </a:t>
            </a:r>
            <a:r>
              <a:rPr lang="ru-RU" dirty="0"/>
              <a:t>реализация для библиотеки с предыдущего слайда </a:t>
            </a:r>
            <a:r>
              <a:rPr lang="en-US" dirty="0" err="1"/>
              <a:t>torchPIVModel</a:t>
            </a:r>
            <a:r>
              <a:rPr lang="en-US" dirty="0"/>
              <a:t>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022436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601A20-83A2-4556-9F66-0D39C0D3C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Bahnschrift SemiBold Condensed" panose="020B0502040204020203" pitchFamily="34" charset="0"/>
              </a:rPr>
              <a:t>Проведение тестов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7669D2-CBF2-40D4-94F0-E6FAB990C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Такой подход позволяет использовать одни и те же тесты, добавляя классы той или иной части системы (заменить гладкий шум на случайные синусы, равномерно распределенные частицы на что-то другое)</a:t>
            </a:r>
          </a:p>
          <a:p>
            <a:r>
              <a:rPr lang="ru-RU" dirty="0"/>
              <a:t>Ниже представлены результаты нескольких простых проведенных  тестов</a:t>
            </a:r>
          </a:p>
        </p:txBody>
      </p:sp>
    </p:spTree>
    <p:extLst>
      <p:ext uri="{BB962C8B-B14F-4D97-AF65-F5344CB8AC3E}">
        <p14:creationId xmlns:p14="http://schemas.microsoft.com/office/powerpoint/2010/main" val="29916057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601A20-83A2-4556-9F66-0D39C0D3C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Bahnschrift SemiBold Condensed" panose="020B0502040204020203" pitchFamily="34" charset="0"/>
              </a:rPr>
              <a:t>Проведение тестов: Простой тест на визуальное сравнение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4A70B853-9E34-4C24-A44C-E0060EC471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69658" y="1101827"/>
            <a:ext cx="5462582" cy="539104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A5E661-2DD6-489C-81CA-B9C5D0158264}"/>
              </a:ext>
            </a:extLst>
          </p:cNvPr>
          <p:cNvSpPr txBox="1"/>
          <p:nvPr/>
        </p:nvSpPr>
        <p:spPr>
          <a:xfrm>
            <a:off x="900187" y="1743519"/>
            <a:ext cx="379499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 этом тесте результат аналитической модели с гладким шумом </a:t>
            </a:r>
            <a:r>
              <a:rPr lang="ru-RU" dirty="0" err="1"/>
              <a:t>Пеннинга</a:t>
            </a:r>
            <a:r>
              <a:rPr lang="ru-RU" dirty="0"/>
              <a:t> (красные стрелочки) сравнивается с численным методом </a:t>
            </a:r>
            <a:r>
              <a:rPr lang="en-US" dirty="0"/>
              <a:t>PIV </a:t>
            </a:r>
            <a:r>
              <a:rPr lang="ru-RU" dirty="0"/>
              <a:t>(черные стрелочки)</a:t>
            </a:r>
          </a:p>
        </p:txBody>
      </p:sp>
    </p:spTree>
    <p:extLst>
      <p:ext uri="{BB962C8B-B14F-4D97-AF65-F5344CB8AC3E}">
        <p14:creationId xmlns:p14="http://schemas.microsoft.com/office/powerpoint/2010/main" val="1476060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601A20-83A2-4556-9F66-0D39C0D3C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Bahnschrift SemiBold Condensed" panose="020B0502040204020203" pitchFamily="34" charset="0"/>
              </a:rPr>
              <a:t>Проведение тестов: Оптимизация количества частиц в системе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A5E661-2DD6-489C-81CA-B9C5D0158264}"/>
              </a:ext>
            </a:extLst>
          </p:cNvPr>
          <p:cNvSpPr txBox="1"/>
          <p:nvPr/>
        </p:nvSpPr>
        <p:spPr>
          <a:xfrm>
            <a:off x="900186" y="1743519"/>
            <a:ext cx="561432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 этом тесте изменяется количество частиц в системе. Ошибка определяется как средний квадрат отклонений векторов полученных векторов скоростей. </a:t>
            </a:r>
            <a:br>
              <a:rPr lang="ru-RU" dirty="0"/>
            </a:br>
            <a:br>
              <a:rPr lang="ru-RU" dirty="0"/>
            </a:br>
            <a:r>
              <a:rPr lang="ru-RU" dirty="0"/>
              <a:t>Наличие оптимального значения следует из двух наблюдений: </a:t>
            </a:r>
          </a:p>
          <a:p>
            <a:pPr marL="342900" indent="-342900">
              <a:buAutoNum type="arabicParenR"/>
            </a:pPr>
            <a:r>
              <a:rPr lang="ru-RU" dirty="0"/>
              <a:t>При слишком маленьком количестве частиц (вырожденный случай одна) недостаточно информации, чтобы правильно восстановить поле</a:t>
            </a:r>
          </a:p>
          <a:p>
            <a:pPr marL="342900" indent="-342900">
              <a:buAutoNum type="arabicParenR"/>
            </a:pPr>
            <a:r>
              <a:rPr lang="ru-RU" dirty="0"/>
              <a:t>При увеличении количества частиц в какой-то момент можно заменить пробелы между частицами на эффективные частицы (дырки) и интерпретировать восстановление течения по движению дырок, тогда возникает такая же проблема 1) при уменьшении количества дырок (вырожденный случай, когда весь экран в </a:t>
            </a:r>
            <a:r>
              <a:rPr lang="ru-RU" dirty="0" err="1"/>
              <a:t>частицых</a:t>
            </a:r>
            <a:r>
              <a:rPr lang="ru-RU" dirty="0"/>
              <a:t> без пробелов)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AB25C67-1182-4A04-83F7-F7865CE039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8684" y="1560069"/>
            <a:ext cx="5290274" cy="3919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4606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601A20-83A2-4556-9F66-0D39C0D3C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Bahnschrift SemiBold Condensed" panose="020B0502040204020203" pitchFamily="34" charset="0"/>
              </a:rPr>
              <a:t>Корректировка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7A5E661-2DD6-489C-81CA-B9C5D0158264}"/>
                  </a:ext>
                </a:extLst>
              </p:cNvPr>
              <p:cNvSpPr txBox="1"/>
              <p:nvPr/>
            </p:nvSpPr>
            <p:spPr>
              <a:xfrm>
                <a:off x="904924" y="1743519"/>
                <a:ext cx="5614322" cy="41186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Так как течение предполагается несжимаемым это накладывает ограничения на скорости потока по уравнению неразрывности: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r>
                  <a:rPr lang="ru-RU" dirty="0"/>
                  <a:t>В численном виде это можно свести к системе линейных уравнений, но размер системы будет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при том, что количество неизвестных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. </a:t>
                </a:r>
                <a:r>
                  <a:rPr lang="ru-RU" dirty="0"/>
                  <a:t>Система, как и должно быть, не доопределена. После работы алгоритма </a:t>
                </a:r>
                <a:r>
                  <a:rPr lang="en-US" dirty="0"/>
                  <a:t>PIV </a:t>
                </a:r>
                <a:r>
                  <a:rPr lang="ru-RU" dirty="0"/>
                  <a:t>имеется приближение решения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ru-RU" dirty="0"/>
                  <a:t>, для его корректировки предлагается искать минимум следующего функционала: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−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  <a:p>
                <a:r>
                  <a:rPr lang="ru-RU" dirty="0"/>
                  <a:t>При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dirty="0"/>
                  <a:t> условиях полученных из уравнения неразрывности. 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7A5E661-2DD6-489C-81CA-B9C5D01582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924" y="1743519"/>
                <a:ext cx="5614322" cy="4118692"/>
              </a:xfrm>
              <a:prstGeom prst="rect">
                <a:avLst/>
              </a:prstGeom>
              <a:blipFill>
                <a:blip r:embed="rId2"/>
                <a:stretch>
                  <a:fillRect l="-869" t="-740" r="-1194" b="-133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80CAD98-CD58-408D-95CE-828D3E0BD9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9187" y="303806"/>
            <a:ext cx="3183861" cy="314816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CB6EA9F-F76E-489C-A7E0-FD0842D38E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1029" y="3557909"/>
            <a:ext cx="3122019" cy="30863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770C96B-F7C7-4AB2-B430-5DEB1CD9C897}"/>
              </a:ext>
            </a:extLst>
          </p:cNvPr>
          <p:cNvSpPr txBox="1"/>
          <p:nvPr/>
        </p:nvSpPr>
        <p:spPr>
          <a:xfrm>
            <a:off x="6965391" y="3686285"/>
            <a:ext cx="19661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 коррекцией.</a:t>
            </a:r>
          </a:p>
          <a:p>
            <a:r>
              <a:rPr lang="ru-RU" dirty="0"/>
              <a:t>Ошибка 0.0035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182B22-D54C-4EFD-8991-B26EDD987160}"/>
              </a:ext>
            </a:extLst>
          </p:cNvPr>
          <p:cNvSpPr txBox="1"/>
          <p:nvPr/>
        </p:nvSpPr>
        <p:spPr>
          <a:xfrm>
            <a:off x="6965391" y="725677"/>
            <a:ext cx="19661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Без коррекции.</a:t>
            </a:r>
          </a:p>
          <a:p>
            <a:r>
              <a:rPr lang="ru-RU" dirty="0"/>
              <a:t>Ошибка 0.0048</a:t>
            </a:r>
          </a:p>
        </p:txBody>
      </p:sp>
    </p:spTree>
    <p:extLst>
      <p:ext uri="{BB962C8B-B14F-4D97-AF65-F5344CB8AC3E}">
        <p14:creationId xmlns:p14="http://schemas.microsoft.com/office/powerpoint/2010/main" val="153313657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750</Words>
  <Application>Microsoft Office PowerPoint</Application>
  <PresentationFormat>Широкоэкранный</PresentationFormat>
  <Paragraphs>51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Arial</vt:lpstr>
      <vt:lpstr>Bahnschrift SemiBold Condensed</vt:lpstr>
      <vt:lpstr>Calibri</vt:lpstr>
      <vt:lpstr>Calibri Light</vt:lpstr>
      <vt:lpstr>Cambria Math</vt:lpstr>
      <vt:lpstr>Тема Office</vt:lpstr>
      <vt:lpstr>Изучение алгоритмов обработки изображений частиц для расчета мгновенного поля скорости. Particle Image Velocimetry (PIV)</vt:lpstr>
      <vt:lpstr>О чем метод</vt:lpstr>
      <vt:lpstr>О чем метод</vt:lpstr>
      <vt:lpstr>Как работает метод</vt:lpstr>
      <vt:lpstr>Как работает метод</vt:lpstr>
      <vt:lpstr>Цель работы и этапы</vt:lpstr>
      <vt:lpstr>Создание генератора искусственных данных</vt:lpstr>
      <vt:lpstr>Создание генератора искусственных данных</vt:lpstr>
      <vt:lpstr>Поиск открытых реализаций метода</vt:lpstr>
      <vt:lpstr>Проведение тестов</vt:lpstr>
      <vt:lpstr>Проведение тестов</vt:lpstr>
      <vt:lpstr>Проведение тестов: Простой тест на визуальное сравнение</vt:lpstr>
      <vt:lpstr>Проведение тестов: Оптимизация количества частиц в системе</vt:lpstr>
      <vt:lpstr>Корректировка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Изучение алгоритмов обработки изображений частиц для расчета мгновенного поля скорости. Particle Image Velocimetry (PIV)</dc:title>
  <dc:creator>егор павлов</dc:creator>
  <cp:lastModifiedBy>егор павлов</cp:lastModifiedBy>
  <cp:revision>17</cp:revision>
  <dcterms:created xsi:type="dcterms:W3CDTF">2026-03-06T18:14:13Z</dcterms:created>
  <dcterms:modified xsi:type="dcterms:W3CDTF">2026-05-07T07:40:06Z</dcterms:modified>
</cp:coreProperties>
</file>